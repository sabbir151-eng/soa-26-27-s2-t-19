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62" r:id="rId3"/>
    <p:sldId id="707" r:id="rId4"/>
    <p:sldId id="257" r:id="rId5"/>
    <p:sldId id="903" r:id="rId6"/>
    <p:sldId id="902" r:id="rId7"/>
    <p:sldId id="258" r:id="rId8"/>
    <p:sldId id="259" r:id="rId9"/>
    <p:sldId id="260" r:id="rId10"/>
    <p:sldId id="905" r:id="rId11"/>
    <p:sldId id="906" r:id="rId12"/>
    <p:sldId id="909" r:id="rId13"/>
    <p:sldId id="91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67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22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22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22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22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22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9/22/2026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22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94360" y="731520"/>
            <a:ext cx="10698480" cy="914400"/>
          </a:xfrm>
          <a:prstGeom prst="roundRect">
            <a:avLst/>
          </a:prstGeom>
          <a:solidFill>
            <a:srgbClr val="1274BC"/>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9728"/>
            <a:ext cx="10424160" cy="473976"/>
          </a:xfrm>
          <a:prstGeom prst="rect">
            <a:avLst/>
          </a:prstGeom>
          <a:noFill/>
        </p:spPr>
        <p:txBody>
          <a:bodyPr wrap="square" lIns="36576" tIns="36576" rIns="36576" bIns="36576" anchor="ctr">
            <a:spAutoFit/>
          </a:bodyPr>
          <a:lstStyle/>
          <a:p>
            <a:pPr algn="ctr"/>
            <a:r>
              <a:rPr sz="2600" b="1" dirty="0">
                <a:solidFill>
                  <a:srgbClr val="FFFFFF"/>
                </a:solidFill>
              </a:rPr>
              <a:t>Campus Canteen — College Food Ordering System</a:t>
            </a:r>
          </a:p>
        </p:txBody>
      </p:sp>
      <p:sp>
        <p:nvSpPr>
          <p:cNvPr id="4" name="TextBox 3"/>
          <p:cNvSpPr txBox="1"/>
          <p:nvPr/>
        </p:nvSpPr>
        <p:spPr>
          <a:xfrm>
            <a:off x="2743200" y="2011680"/>
            <a:ext cx="6675120" cy="502920"/>
          </a:xfrm>
          <a:prstGeom prst="rect">
            <a:avLst/>
          </a:prstGeom>
          <a:noFill/>
        </p:spPr>
        <p:txBody>
          <a:bodyPr wrap="square" lIns="36576" tIns="36576" rIns="36576" bIns="36576" anchor="t">
            <a:spAutoFit/>
          </a:bodyPr>
          <a:lstStyle/>
          <a:p>
            <a:pPr algn="ctr"/>
            <a:r>
              <a:rPr sz="2800" b="1" dirty="0">
                <a:solidFill>
                  <a:srgbClr val="000000"/>
                </a:solidFill>
                <a:latin typeface="Times New Roman"/>
              </a:rPr>
              <a:t>SOA Project Review</a:t>
            </a:r>
          </a:p>
        </p:txBody>
      </p:sp>
      <p:sp>
        <p:nvSpPr>
          <p:cNvPr id="6" name="TextBox 5"/>
          <p:cNvSpPr txBox="1"/>
          <p:nvPr/>
        </p:nvSpPr>
        <p:spPr>
          <a:xfrm>
            <a:off x="731520" y="4297680"/>
            <a:ext cx="4480560" cy="320040"/>
          </a:xfrm>
          <a:prstGeom prst="rect">
            <a:avLst/>
          </a:prstGeom>
          <a:noFill/>
        </p:spPr>
        <p:txBody>
          <a:bodyPr wrap="square" lIns="36576" tIns="36576" rIns="36576" bIns="36576" anchor="t">
            <a:spAutoFit/>
          </a:bodyPr>
          <a:lstStyle/>
          <a:p>
            <a:pPr algn="l">
              <a:defRPr sz="1800" b="1">
                <a:solidFill>
                  <a:srgbClr val="DC0000"/>
                </a:solidFill>
              </a:defRPr>
            </a:pPr>
            <a:r>
              <a:rPr dirty="0"/>
              <a:t>Under the Guidance of</a:t>
            </a:r>
          </a:p>
        </p:txBody>
      </p:sp>
      <p:sp>
        <p:nvSpPr>
          <p:cNvPr id="7" name="TextBox 6"/>
          <p:cNvSpPr txBox="1"/>
          <p:nvPr/>
        </p:nvSpPr>
        <p:spPr>
          <a:xfrm>
            <a:off x="731520" y="4645152"/>
            <a:ext cx="4754880" cy="766364"/>
          </a:xfrm>
          <a:prstGeom prst="rect">
            <a:avLst/>
          </a:prstGeom>
          <a:noFill/>
        </p:spPr>
        <p:txBody>
          <a:bodyPr wrap="square" lIns="36576" tIns="36576" rIns="36576" bIns="36576" anchor="t">
            <a:spAutoFit/>
          </a:bodyPr>
          <a:lstStyle/>
          <a:p>
            <a:pPr algn="l">
              <a:defRPr sz="1500"/>
            </a:pPr>
            <a:endParaRPr dirty="0"/>
          </a:p>
          <a:p>
            <a:pPr>
              <a:defRPr sz="1500"/>
            </a:pPr>
            <a:r>
              <a:rPr dirty="0"/>
              <a:t>Department of CSE</a:t>
            </a:r>
          </a:p>
          <a:p>
            <a:pPr>
              <a:defRPr sz="1500"/>
            </a:pPr>
            <a:r>
              <a:rPr dirty="0"/>
              <a:t>KLH CSE </a:t>
            </a:r>
            <a:r>
              <a:rPr dirty="0" err="1"/>
              <a:t>Bowrampet</a:t>
            </a:r>
            <a:r>
              <a:rPr dirty="0"/>
              <a:t> Campus</a:t>
            </a:r>
          </a:p>
        </p:txBody>
      </p:sp>
      <p:sp>
        <p:nvSpPr>
          <p:cNvPr id="8" name="TextBox 7"/>
          <p:cNvSpPr txBox="1"/>
          <p:nvPr/>
        </p:nvSpPr>
        <p:spPr>
          <a:xfrm>
            <a:off x="7498079" y="4297680"/>
            <a:ext cx="3474720" cy="320040"/>
          </a:xfrm>
          <a:prstGeom prst="rect">
            <a:avLst/>
          </a:prstGeom>
          <a:noFill/>
        </p:spPr>
        <p:txBody>
          <a:bodyPr wrap="square" lIns="36576" tIns="36576" rIns="36576" bIns="36576" anchor="t">
            <a:spAutoFit/>
          </a:bodyPr>
          <a:lstStyle/>
          <a:p>
            <a:pPr algn="l">
              <a:defRPr sz="1800" b="1">
                <a:solidFill>
                  <a:srgbClr val="DC0000"/>
                </a:solidFill>
              </a:defRPr>
            </a:pPr>
            <a:r>
              <a:t>Team Members</a:t>
            </a:r>
          </a:p>
        </p:txBody>
      </p:sp>
      <p:sp>
        <p:nvSpPr>
          <p:cNvPr id="9" name="TextBox 8"/>
          <p:cNvSpPr txBox="1"/>
          <p:nvPr/>
        </p:nvSpPr>
        <p:spPr>
          <a:xfrm>
            <a:off x="6705602" y="4645152"/>
            <a:ext cx="4267197" cy="997196"/>
          </a:xfrm>
          <a:prstGeom prst="rect">
            <a:avLst/>
          </a:prstGeom>
          <a:noFill/>
        </p:spPr>
        <p:txBody>
          <a:bodyPr wrap="square" lIns="36576" tIns="36576" rIns="36576" bIns="36576" anchor="t">
            <a:spAutoFit/>
          </a:bodyPr>
          <a:lstStyle/>
          <a:p>
            <a:pPr algn="l">
              <a:defRPr sz="1500"/>
            </a:pPr>
            <a:r>
              <a:rPr dirty="0"/>
              <a:t>1. [</a:t>
            </a:r>
            <a:r>
              <a:rPr lang="en-IN" dirty="0"/>
              <a:t>SK ABDUL SABBIR</a:t>
            </a:r>
            <a:r>
              <a:rPr dirty="0"/>
              <a:t>] — [ID</a:t>
            </a:r>
            <a:r>
              <a:rPr lang="en-IN" dirty="0"/>
              <a:t>:-2420030151</a:t>
            </a:r>
            <a:r>
              <a:rPr dirty="0"/>
              <a:t>]</a:t>
            </a:r>
          </a:p>
          <a:p>
            <a:pPr>
              <a:defRPr sz="1500"/>
            </a:pPr>
            <a:r>
              <a:rPr dirty="0"/>
              <a:t>2. [</a:t>
            </a:r>
            <a:r>
              <a:rPr lang="en-IN" dirty="0"/>
              <a:t>AAYUSH SHINA</a:t>
            </a:r>
            <a:r>
              <a:rPr dirty="0"/>
              <a:t>] — [I</a:t>
            </a:r>
            <a:r>
              <a:rPr lang="en-IN" dirty="0"/>
              <a:t>D:-2420030518</a:t>
            </a:r>
            <a:r>
              <a:rPr dirty="0"/>
              <a:t>]</a:t>
            </a:r>
          </a:p>
          <a:p>
            <a:pPr>
              <a:defRPr sz="1500"/>
            </a:pPr>
            <a:r>
              <a:rPr dirty="0"/>
              <a:t>3. [</a:t>
            </a:r>
            <a:r>
              <a:rPr lang="en-IN" dirty="0"/>
              <a:t>AASHISH</a:t>
            </a:r>
            <a:r>
              <a:rPr dirty="0"/>
              <a:t>] — [ID</a:t>
            </a:r>
            <a:r>
              <a:rPr lang="en-IN" dirty="0"/>
              <a:t>:2420030500</a:t>
            </a:r>
            <a:r>
              <a:rPr dirty="0"/>
              <a:t>]</a:t>
            </a:r>
          </a:p>
          <a:p>
            <a:pPr>
              <a:defRPr sz="1500"/>
            </a:pPr>
            <a:endParaRPr dirty="0"/>
          </a:p>
        </p:txBody>
      </p:sp>
      <p:sp>
        <p:nvSpPr>
          <p:cNvPr id="10" name="TextBox 9"/>
          <p:cNvSpPr txBox="1"/>
          <p:nvPr/>
        </p:nvSpPr>
        <p:spPr>
          <a:xfrm>
            <a:off x="685800" y="6355080"/>
            <a:ext cx="2743200" cy="274320"/>
          </a:xfrm>
          <a:prstGeom prst="rect">
            <a:avLst/>
          </a:prstGeom>
          <a:noFill/>
        </p:spPr>
        <p:txBody>
          <a:bodyPr wrap="square" lIns="36576" tIns="36576" rIns="36576" bIns="36576" anchor="t">
            <a:spAutoFit/>
          </a:bodyPr>
          <a:lstStyle/>
          <a:p>
            <a:pPr algn="l"/>
            <a:r>
              <a:rPr sz="1200" b="1">
                <a:solidFill>
                  <a:srgbClr val="646464"/>
                </a:solidFill>
                <a:latin typeface="Times New Roman"/>
              </a:rPr>
              <a:t>SOA Project Review-1</a:t>
            </a:r>
          </a:p>
        </p:txBody>
      </p:sp>
      <p:sp>
        <p:nvSpPr>
          <p:cNvPr id="11" name="TextBox 10"/>
          <p:cNvSpPr txBox="1"/>
          <p:nvPr/>
        </p:nvSpPr>
        <p:spPr>
          <a:xfrm>
            <a:off x="9966960" y="6355080"/>
            <a:ext cx="914400" cy="274320"/>
          </a:xfrm>
          <a:prstGeom prst="rect">
            <a:avLst/>
          </a:prstGeom>
          <a:noFill/>
        </p:spPr>
        <p:txBody>
          <a:bodyPr wrap="square" lIns="36576" tIns="36576" rIns="36576" bIns="36576" anchor="t">
            <a:spAutoFit/>
          </a:bodyPr>
          <a:lstStyle/>
          <a:p>
            <a:pPr algn="r"/>
            <a:r>
              <a:rPr sz="1200" b="0">
                <a:solidFill>
                  <a:srgbClr val="646464"/>
                </a:solidFill>
                <a:latin typeface="Times New Roman"/>
              </a:rPr>
              <a:t>1</a:t>
            </a:r>
          </a:p>
        </p:txBody>
      </p:sp>
      <p:pic>
        <p:nvPicPr>
          <p:cNvPr id="12" name="Picture 11" descr="image.png"/>
          <p:cNvPicPr>
            <a:picLocks noChangeAspect="1"/>
          </p:cNvPicPr>
          <p:nvPr/>
        </p:nvPicPr>
        <p:blipFill>
          <a:blip r:embed="rId3"/>
          <a:stretch>
            <a:fillRect/>
          </a:stretch>
        </p:blipFill>
        <p:spPr>
          <a:xfrm>
            <a:off x="10012680" y="73152"/>
            <a:ext cx="1234440" cy="412284"/>
          </a:xfrm>
          <a:prstGeom prst="rect">
            <a:avLst/>
          </a:prstGeom>
        </p:spPr>
      </p:pic>
    </p:spTree>
    <p:extLst>
      <p:ext uri="{BB962C8B-B14F-4D97-AF65-F5344CB8AC3E}">
        <p14:creationId xmlns:p14="http://schemas.microsoft.com/office/powerpoint/2010/main" val="22476026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5920" y="479143"/>
            <a:ext cx="8046720" cy="504754"/>
          </a:xfrm>
          <a:prstGeom prst="rect">
            <a:avLst/>
          </a:prstGeom>
          <a:noFill/>
        </p:spPr>
        <p:txBody>
          <a:bodyPr wrap="square" lIns="36576" tIns="36576" rIns="36576" bIns="36576" anchor="ctr">
            <a:spAutoFit/>
          </a:bodyPr>
          <a:lstStyle/>
          <a:p>
            <a:pPr algn="ctr"/>
            <a:r>
              <a:rPr sz="2800" b="1" dirty="0"/>
              <a:t>Outline of Project Work</a:t>
            </a:r>
          </a:p>
        </p:txBody>
      </p:sp>
      <p:sp>
        <p:nvSpPr>
          <p:cNvPr id="3" name="Rounded Rectangle 2"/>
          <p:cNvSpPr/>
          <p:nvPr/>
        </p:nvSpPr>
        <p:spPr>
          <a:xfrm>
            <a:off x="822960" y="1234440"/>
            <a:ext cx="5166360" cy="4526280"/>
          </a:xfrm>
          <a:prstGeom prst="roundRect">
            <a:avLst/>
          </a:prstGeom>
          <a:solidFill>
            <a:srgbClr val="F5F7FA"/>
          </a:solidFill>
          <a:ln w="16510">
            <a:solidFill>
              <a:srgbClr val="F0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defRPr sz="1700"/>
            </a:pPr>
            <a:r>
              <a:t>• Project Overview &amp; Abstract</a:t>
            </a:r>
          </a:p>
          <a:p>
            <a:pPr>
              <a:spcAft>
                <a:spcPts val="600"/>
              </a:spcAft>
              <a:defRPr sz="1700"/>
            </a:pPr>
            <a:r>
              <a:t>• Problem Statement</a:t>
            </a:r>
          </a:p>
          <a:p>
            <a:pPr>
              <a:spcAft>
                <a:spcPts val="600"/>
              </a:spcAft>
              <a:defRPr sz="1700"/>
            </a:pPr>
            <a:r>
              <a:t>• Objectives &amp; Scope</a:t>
            </a:r>
          </a:p>
          <a:p>
            <a:pPr>
              <a:spcAft>
                <a:spcPts val="600"/>
              </a:spcAft>
              <a:defRPr sz="1700"/>
            </a:pPr>
            <a:r>
              <a:t>• SOA Architecture &amp; Service Decomposition</a:t>
            </a:r>
          </a:p>
          <a:p>
            <a:pPr>
              <a:spcAft>
                <a:spcPts val="600"/>
              </a:spcAft>
              <a:defRPr sz="1700"/>
            </a:pPr>
            <a:r>
              <a:t>• Service Interfaces &amp; REST APIs</a:t>
            </a:r>
          </a:p>
          <a:p>
            <a:pPr>
              <a:spcAft>
                <a:spcPts val="600"/>
              </a:spcAft>
              <a:defRPr sz="1700"/>
            </a:pPr>
            <a:r>
              <a:t>• Core Features</a:t>
            </a:r>
          </a:p>
          <a:p>
            <a:pPr>
              <a:spcAft>
                <a:spcPts val="600"/>
              </a:spcAft>
              <a:defRPr sz="1700"/>
            </a:pPr>
            <a:r>
              <a:t>• Setup &amp; Execution</a:t>
            </a:r>
          </a:p>
        </p:txBody>
      </p:sp>
      <p:sp>
        <p:nvSpPr>
          <p:cNvPr id="4" name="Rounded Rectangle 3"/>
          <p:cNvSpPr/>
          <p:nvPr/>
        </p:nvSpPr>
        <p:spPr>
          <a:xfrm>
            <a:off x="6172200" y="1234440"/>
            <a:ext cx="5166360" cy="4526280"/>
          </a:xfrm>
          <a:prstGeom prst="roundRect">
            <a:avLst/>
          </a:prstGeom>
          <a:solidFill>
            <a:srgbClr val="F5F7FA"/>
          </a:solidFill>
          <a:ln w="16510">
            <a:solidFill>
              <a:srgbClr val="F0A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508760"/>
            <a:ext cx="4709160" cy="4023360"/>
          </a:xfrm>
          <a:prstGeom prst="rect">
            <a:avLst/>
          </a:prstGeom>
          <a:noFill/>
        </p:spPr>
        <p:txBody>
          <a:bodyPr wrap="square" lIns="73152" tIns="27432" rIns="73152" bIns="27432">
            <a:spAutoFit/>
          </a:bodyPr>
          <a:lstStyle/>
          <a:p>
            <a:pPr>
              <a:spcAft>
                <a:spcPts val="600"/>
              </a:spcAft>
              <a:buChar char="•"/>
              <a:defRPr sz="1700">
                <a:solidFill>
                  <a:srgbClr val="000000"/>
                </a:solidFill>
                <a:latin typeface="Times New Roman"/>
              </a:defRPr>
            </a:pPr>
            <a:r>
              <a:t>• Literature Survey / Source Basis</a:t>
            </a:r>
          </a:p>
          <a:p>
            <a:pPr>
              <a:spcAft>
                <a:spcPts val="600"/>
              </a:spcAft>
              <a:defRPr sz="1700"/>
            </a:pPr>
            <a:r>
              <a:t>• Problem Gap Identification</a:t>
            </a:r>
          </a:p>
          <a:p>
            <a:pPr>
              <a:spcAft>
                <a:spcPts val="600"/>
              </a:spcAft>
              <a:defRPr sz="1700"/>
            </a:pPr>
            <a:r>
              <a:t>• Innovation, Creativity &amp; Novelty</a:t>
            </a:r>
          </a:p>
          <a:p>
            <a:pPr>
              <a:spcAft>
                <a:spcPts val="600"/>
              </a:spcAft>
              <a:defRPr sz="1700"/>
            </a:pPr>
            <a:r>
              <a:t>• Current Phase Status</a:t>
            </a:r>
          </a:p>
          <a:p>
            <a:pPr>
              <a:spcAft>
                <a:spcPts val="600"/>
              </a:spcAft>
              <a:defRPr sz="1700"/>
            </a:pPr>
            <a:r>
              <a:t>• Feasibility &amp; Project Plan</a:t>
            </a:r>
          </a:p>
          <a:p>
            <a:pPr>
              <a:spcAft>
                <a:spcPts val="600"/>
              </a:spcAft>
              <a:defRPr sz="1700"/>
            </a:pPr>
            <a:r>
              <a:t>• GitHub &amp; Evaluation Requirements</a:t>
            </a:r>
          </a:p>
          <a:p>
            <a:pPr>
              <a:spcAft>
                <a:spcPts val="600"/>
              </a:spcAft>
              <a:defRPr sz="1700"/>
            </a:pPr>
            <a:r>
              <a:t>• Conclusion &amp; Future Work</a:t>
            </a:r>
          </a:p>
        </p:txBody>
      </p:sp>
      <p:sp>
        <p:nvSpPr>
          <p:cNvPr id="6" name="TextBox 5"/>
          <p:cNvSpPr txBox="1"/>
          <p:nvPr/>
        </p:nvSpPr>
        <p:spPr>
          <a:xfrm>
            <a:off x="6400800" y="1508760"/>
            <a:ext cx="4709160" cy="4023360"/>
          </a:xfrm>
          <a:prstGeom prst="rect">
            <a:avLst/>
          </a:prstGeom>
          <a:noFill/>
        </p:spPr>
        <p:txBody>
          <a:bodyPr wrap="square" lIns="73152" tIns="27432" rIns="73152" bIns="27432">
            <a:spAutoFit/>
          </a:bodyPr>
          <a:lstStyle/>
          <a:p>
            <a:pPr>
              <a:buChar char="•"/>
              <a:defRPr sz="1600">
                <a:solidFill>
                  <a:srgbClr val="000000"/>
                </a:solidFill>
                <a:latin typeface="Times New Roman"/>
              </a:defRPr>
            </a:pPr>
            <a:r>
              <a:t>Problem Gap Identification</a:t>
            </a:r>
          </a:p>
          <a:p>
            <a:pPr>
              <a:buChar char="•"/>
              <a:defRPr sz="1600">
                <a:solidFill>
                  <a:srgbClr val="000000"/>
                </a:solidFill>
                <a:latin typeface="Times New Roman"/>
              </a:defRPr>
            </a:pPr>
            <a:r>
              <a:t>Innovation, Creativity &amp; Novelty</a:t>
            </a:r>
          </a:p>
          <a:p>
            <a:pPr>
              <a:buChar char="•"/>
              <a:defRPr sz="1600">
                <a:solidFill>
                  <a:srgbClr val="000000"/>
                </a:solidFill>
                <a:latin typeface="Times New Roman"/>
              </a:defRPr>
            </a:pPr>
            <a:r>
              <a:t>Current Phase Status</a:t>
            </a:r>
          </a:p>
          <a:p>
            <a:pPr>
              <a:buChar char="•"/>
              <a:defRPr sz="1600">
                <a:solidFill>
                  <a:srgbClr val="000000"/>
                </a:solidFill>
                <a:latin typeface="Times New Roman"/>
              </a:defRPr>
            </a:pPr>
            <a:r>
              <a:t>Feasibility &amp; Proposed Timeline</a:t>
            </a:r>
          </a:p>
          <a:p>
            <a:pPr>
              <a:buChar char="•"/>
              <a:defRPr sz="1600">
                <a:solidFill>
                  <a:srgbClr val="000000"/>
                </a:solidFill>
                <a:latin typeface="Times New Roman"/>
              </a:defRPr>
            </a:pPr>
            <a:r>
              <a:t>GitHub &amp; Evaluation Requirements</a:t>
            </a:r>
          </a:p>
          <a:p>
            <a:pPr>
              <a:buChar char="•"/>
              <a:defRPr sz="1600">
                <a:solidFill>
                  <a:srgbClr val="000000"/>
                </a:solidFill>
                <a:latin typeface="Times New Roman"/>
              </a:defRPr>
            </a:pPr>
            <a:r>
              <a:t>Conclusion &amp; Future Work</a:t>
            </a:r>
          </a:p>
        </p:txBody>
      </p:sp>
      <p:sp>
        <p:nvSpPr>
          <p:cNvPr id="7" name="TextBox 6"/>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8" name="TextBox 7"/>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2</a:t>
            </a:r>
          </a:p>
        </p:txBody>
      </p:sp>
      <p:pic>
        <p:nvPicPr>
          <p:cNvPr id="9" name="Picture 8" descr="image.png"/>
          <p:cNvPicPr>
            <a:picLocks noChangeAspect="1"/>
          </p:cNvPicPr>
          <p:nvPr/>
        </p:nvPicPr>
        <p:blipFill>
          <a:blip r:embed="rId2"/>
          <a:stretch>
            <a:fillRect/>
          </a:stretch>
        </p:blipFill>
        <p:spPr>
          <a:xfrm>
            <a:off x="10012680" y="73152"/>
            <a:ext cx="1234440" cy="412284"/>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2" name="TextBox 1"/>
          <p:cNvSpPr txBox="1"/>
          <p:nvPr/>
        </p:nvSpPr>
        <p:spPr>
          <a:xfrm>
            <a:off x="1645920" y="479143"/>
            <a:ext cx="8046720" cy="504754"/>
          </a:xfrm>
          <a:prstGeom prst="rect">
            <a:avLst/>
          </a:prstGeom>
          <a:noFill/>
        </p:spPr>
        <p:txBody>
          <a:bodyPr wrap="square" lIns="36576" tIns="36576" rIns="36576" bIns="36576" anchor="ctr">
            <a:spAutoFit/>
          </a:bodyPr>
          <a:lstStyle/>
          <a:p>
            <a:pPr algn="ctr"/>
            <a:r>
              <a:rPr sz="2800" b="1" dirty="0"/>
              <a:t>Project Abstract</a:t>
            </a:r>
          </a:p>
        </p:txBody>
      </p:sp>
      <p:sp>
        <p:nvSpPr>
          <p:cNvPr id="6" name="TextBox 5"/>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7" name="TextBox 6"/>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3</a:t>
            </a:r>
          </a:p>
        </p:txBody>
      </p:sp>
      <p:pic>
        <p:nvPicPr>
          <p:cNvPr id="8" name="Picture 7" descr="image.png"/>
          <p:cNvPicPr>
            <a:picLocks noChangeAspect="1"/>
          </p:cNvPicPr>
          <p:nvPr/>
        </p:nvPicPr>
        <p:blipFill>
          <a:blip r:embed="rId2"/>
          <a:stretch>
            <a:fillRect/>
          </a:stretch>
        </p:blipFill>
        <p:spPr>
          <a:xfrm>
            <a:off x="10012680" y="73152"/>
            <a:ext cx="1234440" cy="412284"/>
          </a:xfrm>
          <a:prstGeom prst="rect">
            <a:avLst/>
          </a:prstGeom>
        </p:spPr>
      </p:pic>
      <p:sp>
        <p:nvSpPr>
          <p:cNvPr id="9" name="Rounded Rectangle 8"/>
          <p:cNvSpPr/>
          <p:nvPr/>
        </p:nvSpPr>
        <p:spPr>
          <a:xfrm>
            <a:off x="900000" y="1450000"/>
            <a:ext cx="10200000" cy="4502744"/>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t"/>
          <a:lstStyle/>
          <a:p>
            <a:pPr algn="ctr">
              <a:spcAft>
                <a:spcPts val="800"/>
              </a:spcAft>
              <a:defRPr sz="1600" b="1">
                <a:solidFill>
                  <a:srgbClr val="266691"/>
                </a:solidFill>
              </a:defRPr>
            </a:pPr>
            <a:r>
              <a:rPr sz="2800" dirty="0"/>
              <a:t>Abstract</a:t>
            </a:r>
          </a:p>
          <a:p>
            <a:pPr>
              <a:defRPr sz="1600">
                <a:solidFill>
                  <a:srgbClr val="191919"/>
                </a:solidFill>
              </a:defRPr>
            </a:pPr>
            <a:r>
              <a:rPr sz="2000" dirty="0"/>
              <a:t>Campus Canteen is a college food ordering system. Students browse the menu, manage a cart, place pickup orders, receive invoice numbers and track order status. Canteen staff manage menu items, incoming orders and analytics.</a:t>
            </a:r>
            <a:br>
              <a:rPr sz="2000" dirty="0"/>
            </a:br>
            <a:br>
              <a:rPr sz="2000" dirty="0"/>
            </a:br>
            <a:r>
              <a:rPr sz="2000" dirty="0"/>
              <a:t>SOA perspective: business capabilities are organized as service areas—Authentication, Menu, Orders/Invoices and Analytics—exposed through REST endpoints. React/Vite provides the client layer; Node.js + Express provides the service layer; MongoDB/Mongoose provides persistence; JWT/</a:t>
            </a:r>
            <a:r>
              <a:rPr sz="2000" dirty="0" err="1"/>
              <a:t>bcrypt</a:t>
            </a:r>
            <a:r>
              <a:rPr sz="2000" dirty="0"/>
              <a:t> provides authentication.</a:t>
            </a:r>
          </a:p>
        </p:txBody>
      </p:sp>
    </p:spTree>
    <p:extLst>
      <p:ext uri="{BB962C8B-B14F-4D97-AF65-F5344CB8AC3E}">
        <p14:creationId xmlns:p14="http://schemas.microsoft.com/office/powerpoint/2010/main" val="184393777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2" name="TextBox 1"/>
          <p:cNvSpPr txBox="1"/>
          <p:nvPr/>
        </p:nvSpPr>
        <p:spPr>
          <a:xfrm>
            <a:off x="1645920" y="479143"/>
            <a:ext cx="8046720" cy="504754"/>
          </a:xfrm>
          <a:prstGeom prst="rect">
            <a:avLst/>
          </a:prstGeom>
          <a:noFill/>
        </p:spPr>
        <p:txBody>
          <a:bodyPr wrap="square" lIns="36576" tIns="36576" rIns="36576" bIns="36576" anchor="ctr">
            <a:spAutoFit/>
          </a:bodyPr>
          <a:lstStyle/>
          <a:p>
            <a:pPr algn="ctr"/>
            <a:r>
              <a:rPr sz="2800" b="1" dirty="0"/>
              <a:t>Problem Statement</a:t>
            </a:r>
          </a:p>
        </p:txBody>
      </p:sp>
      <p:sp>
        <p:nvSpPr>
          <p:cNvPr id="5" name="TextBox 4"/>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6" name="TextBox 5"/>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dirty="0">
                <a:solidFill>
                  <a:srgbClr val="5A5A5A"/>
                </a:solidFill>
              </a:rPr>
              <a:t>4</a:t>
            </a:r>
          </a:p>
        </p:txBody>
      </p:sp>
      <p:pic>
        <p:nvPicPr>
          <p:cNvPr id="7" name="Picture 6" descr="image.png"/>
          <p:cNvPicPr>
            <a:picLocks noChangeAspect="1"/>
          </p:cNvPicPr>
          <p:nvPr/>
        </p:nvPicPr>
        <p:blipFill>
          <a:blip r:embed="rId2"/>
          <a:stretch>
            <a:fillRect/>
          </a:stretch>
        </p:blipFill>
        <p:spPr>
          <a:xfrm>
            <a:off x="10012680" y="73152"/>
            <a:ext cx="1234440" cy="412284"/>
          </a:xfrm>
          <a:prstGeom prst="rect">
            <a:avLst/>
          </a:prstGeom>
        </p:spPr>
      </p:pic>
      <p:sp>
        <p:nvSpPr>
          <p:cNvPr id="8" name="Rounded Rectangle 7"/>
          <p:cNvSpPr/>
          <p:nvPr/>
        </p:nvSpPr>
        <p:spPr>
          <a:xfrm>
            <a:off x="900000" y="1450000"/>
            <a:ext cx="10200000" cy="4466168"/>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t"/>
          <a:lstStyle/>
          <a:p>
            <a:pPr algn="ctr">
              <a:spcAft>
                <a:spcPts val="800"/>
              </a:spcAft>
              <a:defRPr sz="1600" b="1">
                <a:solidFill>
                  <a:srgbClr val="266691"/>
                </a:solidFill>
              </a:defRPr>
            </a:pPr>
            <a:r>
              <a:rPr sz="2400" dirty="0"/>
              <a:t>Problem</a:t>
            </a:r>
            <a:endParaRPr lang="en-IN" sz="2400" dirty="0"/>
          </a:p>
          <a:p>
            <a:pPr>
              <a:defRPr sz="1600">
                <a:solidFill>
                  <a:srgbClr val="191919"/>
                </a:solidFill>
              </a:defRPr>
            </a:pPr>
            <a:r>
              <a:rPr lang="en-US" sz="2000" dirty="0"/>
              <a:t>College canteen operations combine menu discovery, authentication, ordering, invoice generation, status tracking and staff processing.</a:t>
            </a:r>
            <a:br>
              <a:rPr lang="en-US" sz="2000" dirty="0"/>
            </a:br>
            <a:br>
              <a:rPr lang="en-US" sz="2000" dirty="0"/>
            </a:br>
            <a:r>
              <a:rPr lang="en-US" sz="2000" dirty="0"/>
              <a:t>The project provides a centralized digital workflow with role-specific access. From an SOA viewpoint, the goal is to expose cohesive business capabilities through clear interfaces, reduce unnecessary coupling between functions, and make service responsibilities easier to maintain and extend.</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77224" y="346957"/>
            <a:ext cx="8046720" cy="504754"/>
          </a:xfrm>
          <a:prstGeom prst="rect">
            <a:avLst/>
          </a:prstGeom>
          <a:noFill/>
        </p:spPr>
        <p:txBody>
          <a:bodyPr wrap="square" lIns="36576" tIns="36576" rIns="36576" bIns="36576" anchor="ctr">
            <a:spAutoFit/>
          </a:bodyPr>
          <a:lstStyle/>
          <a:p>
            <a:pPr algn="ctr"/>
            <a:r>
              <a:rPr sz="2800" b="1" dirty="0"/>
              <a:t>Objectives</a:t>
            </a:r>
          </a:p>
        </p:txBody>
      </p:sp>
      <p:sp>
        <p:nvSpPr>
          <p:cNvPr id="9" name="TextBox 8"/>
          <p:cNvSpPr txBox="1"/>
          <p:nvPr/>
        </p:nvSpPr>
        <p:spPr>
          <a:xfrm>
            <a:off x="685800" y="6355080"/>
            <a:ext cx="2743200" cy="274320"/>
          </a:xfrm>
          <a:prstGeom prst="rect">
            <a:avLst/>
          </a:prstGeom>
          <a:noFill/>
        </p:spPr>
        <p:txBody>
          <a:bodyPr wrap="square" lIns="36576" tIns="36576" rIns="36576" bIns="36576" anchor="t">
            <a:spAutoFit/>
          </a:bodyPr>
          <a:lstStyle/>
          <a:p>
            <a:pPr algn="l"/>
            <a:r>
              <a:rPr sz="1600" b="0"/>
              <a:t>Student Services</a:t>
            </a:r>
            <a:br/>
            <a:br/>
            <a:r>
              <a:rPr sz="1600" b="0"/>
              <a:t>• Browse/search/filter menu</a:t>
            </a:r>
            <a:br/>
            <a:r>
              <a:rPr sz="1600" b="0"/>
              <a:t>• Cart and checkout</a:t>
            </a:r>
            <a:br/>
            <a:r>
              <a:rPr sz="1600" b="0"/>
              <a:t>• Order tracking &amp; history</a:t>
            </a:r>
            <a:br/>
            <a:r>
              <a:rPr sz="1600" b="0"/>
              <a:t>• Invoice visibility</a:t>
            </a:r>
          </a:p>
        </p:txBody>
      </p:sp>
      <p:sp>
        <p:nvSpPr>
          <p:cNvPr id="10" name="TextBox 9"/>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5</a:t>
            </a:r>
          </a:p>
        </p:txBody>
      </p:sp>
      <p:pic>
        <p:nvPicPr>
          <p:cNvPr id="11" name="Picture 10" descr="image.png"/>
          <p:cNvPicPr>
            <a:picLocks noChangeAspect="1"/>
          </p:cNvPicPr>
          <p:nvPr/>
        </p:nvPicPr>
        <p:blipFill>
          <a:blip r:embed="rId3"/>
          <a:stretch>
            <a:fillRect/>
          </a:stretch>
        </p:blipFill>
        <p:spPr>
          <a:xfrm>
            <a:off x="10012680" y="73152"/>
            <a:ext cx="1234440" cy="412284"/>
          </a:xfrm>
          <a:prstGeom prst="rect">
            <a:avLst/>
          </a:prstGeom>
        </p:spPr>
      </p:pic>
      <p:sp>
        <p:nvSpPr>
          <p:cNvPr id="12" name="Rounded Rectangle 11"/>
          <p:cNvSpPr/>
          <p:nvPr/>
        </p:nvSpPr>
        <p:spPr>
          <a:xfrm>
            <a:off x="393192" y="1450000"/>
            <a:ext cx="5407392" cy="4265000"/>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t"/>
          <a:lstStyle/>
          <a:p>
            <a:pPr algn="ctr">
              <a:spcAft>
                <a:spcPts val="800"/>
              </a:spcAft>
              <a:defRPr sz="1600" b="1">
                <a:solidFill>
                  <a:srgbClr val="266691"/>
                </a:solidFill>
              </a:defRPr>
            </a:pPr>
            <a:r>
              <a:rPr sz="2400" dirty="0"/>
              <a:t>Student &amp; Business Objectives</a:t>
            </a:r>
          </a:p>
          <a:p>
            <a:pPr>
              <a:defRPr sz="1500">
                <a:solidFill>
                  <a:srgbClr val="191919"/>
                </a:solidFill>
              </a:defRPr>
            </a:pPr>
            <a:r>
              <a:rPr sz="2000" dirty="0"/>
              <a:t>• Browse, search, filter and sort menu items</a:t>
            </a:r>
            <a:br>
              <a:rPr sz="2000" dirty="0"/>
            </a:br>
            <a:r>
              <a:rPr sz="2000" dirty="0"/>
              <a:t>• Maintain a persistent cart</a:t>
            </a:r>
            <a:br>
              <a:rPr sz="2000" dirty="0"/>
            </a:br>
            <a:r>
              <a:rPr sz="2000" dirty="0"/>
              <a:t>• Place pickup orders and view invoices</a:t>
            </a:r>
            <a:br>
              <a:rPr sz="2000" dirty="0"/>
            </a:br>
            <a:r>
              <a:rPr sz="2000" dirty="0"/>
              <a:t>• Track order status and history</a:t>
            </a:r>
            <a:br>
              <a:rPr sz="2000" dirty="0"/>
            </a:br>
            <a:r>
              <a:rPr sz="2000" dirty="0"/>
              <a:t>• Provide staff with menu, order and analytics operations</a:t>
            </a:r>
          </a:p>
        </p:txBody>
      </p:sp>
      <p:sp>
        <p:nvSpPr>
          <p:cNvPr id="13" name="Rounded Rectangle 12"/>
          <p:cNvSpPr/>
          <p:nvPr/>
        </p:nvSpPr>
        <p:spPr>
          <a:xfrm>
            <a:off x="6096000" y="1450000"/>
            <a:ext cx="5631752" cy="4265000"/>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t"/>
          <a:lstStyle/>
          <a:p>
            <a:pPr algn="ctr">
              <a:spcAft>
                <a:spcPts val="800"/>
              </a:spcAft>
              <a:defRPr sz="1600" b="1">
                <a:solidFill>
                  <a:srgbClr val="266691"/>
                </a:solidFill>
              </a:defRPr>
            </a:pPr>
            <a:r>
              <a:rPr sz="2400" dirty="0"/>
              <a:t>SOA Objectives</a:t>
            </a:r>
          </a:p>
          <a:p>
            <a:pPr>
              <a:defRPr sz="1500">
                <a:solidFill>
                  <a:srgbClr val="191919"/>
                </a:solidFill>
              </a:defRPr>
            </a:pPr>
            <a:r>
              <a:rPr sz="2000" dirty="0"/>
              <a:t>• Identify cohesive service boundaries</a:t>
            </a:r>
            <a:br>
              <a:rPr sz="2000" dirty="0"/>
            </a:br>
            <a:r>
              <a:rPr sz="2000" dirty="0"/>
              <a:t>• Expose REST/JSON interfaces</a:t>
            </a:r>
            <a:br>
              <a:rPr sz="2000" dirty="0"/>
            </a:br>
            <a:r>
              <a:rPr sz="2000" dirty="0"/>
              <a:t>• Apply role-based authorization</a:t>
            </a:r>
            <a:br>
              <a:rPr sz="2000" dirty="0"/>
            </a:br>
            <a:r>
              <a:rPr sz="2000" dirty="0"/>
              <a:t>• Separate UI, business logic and persistence</a:t>
            </a:r>
            <a:br>
              <a:rPr sz="2000" dirty="0"/>
            </a:br>
            <a:r>
              <a:rPr sz="2000" dirty="0"/>
              <a:t>• Support reusable service operations</a:t>
            </a:r>
            <a:br>
              <a:rPr sz="2000" dirty="0"/>
            </a:br>
            <a:r>
              <a:rPr sz="2000" dirty="0"/>
              <a:t>• Keep service responsibilities understandable and testable</a:t>
            </a:r>
          </a:p>
        </p:txBody>
      </p:sp>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2" name="TextBox 1"/>
          <p:cNvSpPr txBox="1"/>
          <p:nvPr/>
        </p:nvSpPr>
        <p:spPr>
          <a:xfrm>
            <a:off x="1645920" y="411480"/>
            <a:ext cx="8046720" cy="640080"/>
          </a:xfrm>
          <a:prstGeom prst="rect">
            <a:avLst/>
          </a:prstGeom>
          <a:noFill/>
        </p:spPr>
        <p:txBody>
          <a:bodyPr wrap="square" lIns="36576" tIns="36576" rIns="36576" bIns="36576" anchor="ctr">
            <a:spAutoFit/>
          </a:bodyPr>
          <a:lstStyle/>
          <a:p>
            <a:pPr algn="ctr"/>
            <a:r>
              <a:rPr sz="2400" b="1"/>
              <a:t>SOA Architecture &amp; Service Decomposition</a:t>
            </a:r>
          </a:p>
        </p:txBody>
      </p:sp>
      <p:sp>
        <p:nvSpPr>
          <p:cNvPr id="12" name="TextBox 11"/>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13" name="TextBox 12"/>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dirty="0">
                <a:solidFill>
                  <a:srgbClr val="5A5A5A"/>
                </a:solidFill>
              </a:rPr>
              <a:t>6</a:t>
            </a:r>
          </a:p>
        </p:txBody>
      </p:sp>
      <p:pic>
        <p:nvPicPr>
          <p:cNvPr id="14" name="Picture 13" descr="image.png"/>
          <p:cNvPicPr>
            <a:picLocks noChangeAspect="1"/>
          </p:cNvPicPr>
          <p:nvPr/>
        </p:nvPicPr>
        <p:blipFill>
          <a:blip r:embed="rId2"/>
          <a:stretch>
            <a:fillRect/>
          </a:stretch>
        </p:blipFill>
        <p:spPr>
          <a:xfrm>
            <a:off x="10012680" y="73152"/>
            <a:ext cx="1234440" cy="412284"/>
          </a:xfrm>
          <a:prstGeom prst="rect">
            <a:avLst/>
          </a:prstGeom>
        </p:spPr>
      </p:pic>
      <p:sp>
        <p:nvSpPr>
          <p:cNvPr id="15" name="Rounded Rectangle 14"/>
          <p:cNvSpPr/>
          <p:nvPr/>
        </p:nvSpPr>
        <p:spPr>
          <a:xfrm>
            <a:off x="850000" y="1450000"/>
            <a:ext cx="3000000" cy="25733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rPr dirty="0"/>
              <a:t>Consumers / UI</a:t>
            </a:r>
          </a:p>
          <a:p>
            <a:pPr algn="ctr">
              <a:defRPr sz="1400"/>
            </a:pPr>
            <a:r>
              <a:rPr dirty="0"/>
              <a:t>React.js 18 • Student UI • Staff/Admin UI</a:t>
            </a:r>
            <a:br>
              <a:rPr dirty="0"/>
            </a:br>
            <a:r>
              <a:rPr dirty="0"/>
              <a:t>Role-based navigation</a:t>
            </a:r>
          </a:p>
        </p:txBody>
      </p:sp>
      <p:sp>
        <p:nvSpPr>
          <p:cNvPr id="16" name="Rounded Rectangle 15"/>
          <p:cNvSpPr/>
          <p:nvPr/>
        </p:nvSpPr>
        <p:spPr>
          <a:xfrm>
            <a:off x="4450000" y="1350000"/>
            <a:ext cx="3300000" cy="26733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rPr dirty="0"/>
              <a:t>SOA Service Layer</a:t>
            </a:r>
          </a:p>
          <a:p>
            <a:pPr algn="ctr">
              <a:defRPr sz="1400"/>
            </a:pPr>
            <a:r>
              <a:rPr dirty="0"/>
              <a:t>Auth Service</a:t>
            </a:r>
            <a:br>
              <a:rPr dirty="0"/>
            </a:br>
            <a:r>
              <a:rPr dirty="0"/>
              <a:t>Menu Service</a:t>
            </a:r>
            <a:br>
              <a:rPr dirty="0"/>
            </a:br>
            <a:r>
              <a:rPr dirty="0"/>
              <a:t>Order &amp; Invoice Service</a:t>
            </a:r>
            <a:br>
              <a:rPr dirty="0"/>
            </a:br>
            <a:r>
              <a:rPr dirty="0"/>
              <a:t>Analytics Service</a:t>
            </a:r>
            <a:br>
              <a:rPr dirty="0"/>
            </a:br>
            <a:r>
              <a:rPr dirty="0"/>
              <a:t>REST/JSON interfaces</a:t>
            </a:r>
          </a:p>
        </p:txBody>
      </p:sp>
      <p:sp>
        <p:nvSpPr>
          <p:cNvPr id="17" name="Rounded Rectangle 16"/>
          <p:cNvSpPr/>
          <p:nvPr/>
        </p:nvSpPr>
        <p:spPr>
          <a:xfrm>
            <a:off x="8400000" y="1450000"/>
            <a:ext cx="3000000" cy="257336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rPr dirty="0"/>
              <a:t>Data &amp; Infrastructure</a:t>
            </a:r>
          </a:p>
          <a:p>
            <a:pPr algn="ctr">
              <a:defRPr sz="1400"/>
            </a:pPr>
            <a:r>
              <a:rPr dirty="0"/>
              <a:t>MongoDB + Mongoose</a:t>
            </a:r>
            <a:br>
              <a:rPr dirty="0"/>
            </a:br>
            <a:r>
              <a:rPr dirty="0"/>
              <a:t>JWT + </a:t>
            </a:r>
            <a:r>
              <a:rPr dirty="0" err="1"/>
              <a:t>bcrypt</a:t>
            </a:r>
            <a:br>
              <a:rPr dirty="0"/>
            </a:br>
            <a:r>
              <a:rPr dirty="0"/>
              <a:t>Validation &amp; error handling</a:t>
            </a:r>
            <a:br>
              <a:rPr dirty="0"/>
            </a:br>
            <a:r>
              <a:rPr dirty="0"/>
              <a:t>Aggregation / indexing</a:t>
            </a:r>
          </a:p>
        </p:txBody>
      </p:sp>
      <p:sp>
        <p:nvSpPr>
          <p:cNvPr id="18" name="Right Arrow 17"/>
          <p:cNvSpPr/>
          <p:nvPr/>
        </p:nvSpPr>
        <p:spPr>
          <a:xfrm>
            <a:off x="3850000" y="1950000"/>
            <a:ext cx="600000" cy="400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Arrow 18"/>
          <p:cNvSpPr/>
          <p:nvPr/>
        </p:nvSpPr>
        <p:spPr>
          <a:xfrm>
            <a:off x="7750000" y="1950000"/>
            <a:ext cx="650000" cy="400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5B9DFAE-5735-FFB4-1384-7380C378200A}"/>
              </a:ext>
            </a:extLst>
          </p:cNvPr>
          <p:cNvSpPr txBox="1"/>
          <p:nvPr/>
        </p:nvSpPr>
        <p:spPr>
          <a:xfrm>
            <a:off x="850000" y="4460135"/>
            <a:ext cx="10397120" cy="830997"/>
          </a:xfrm>
          <a:prstGeom prst="rect">
            <a:avLst/>
          </a:prstGeom>
          <a:noFill/>
        </p:spPr>
        <p:txBody>
          <a:bodyPr wrap="square">
            <a:spAutoFit/>
          </a:bodyPr>
          <a:lstStyle/>
          <a:p>
            <a:r>
              <a:rPr lang="en-IN" sz="2400" dirty="0"/>
              <a:t>The system follows a three-layer architecture connecting the user interface, backend services, and database for efficient canteen management.</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2" name="TextBox 1"/>
          <p:cNvSpPr txBox="1"/>
          <p:nvPr/>
        </p:nvSpPr>
        <p:spPr>
          <a:xfrm>
            <a:off x="1645920" y="411480"/>
            <a:ext cx="8046720" cy="640080"/>
          </a:xfrm>
          <a:prstGeom prst="rect">
            <a:avLst/>
          </a:prstGeom>
          <a:noFill/>
        </p:spPr>
        <p:txBody>
          <a:bodyPr wrap="square" lIns="36576" tIns="36576" rIns="36576" bIns="36576" anchor="ctr">
            <a:spAutoFit/>
          </a:bodyPr>
          <a:lstStyle/>
          <a:p>
            <a:pPr algn="ctr"/>
            <a:r>
              <a:rPr sz="2400" b="1"/>
              <a:t>SOA Service Decomposition</a:t>
            </a:r>
          </a:p>
        </p:txBody>
      </p:sp>
      <p:sp>
        <p:nvSpPr>
          <p:cNvPr id="18" name="TextBox 17"/>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19" name="TextBox 18"/>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7</a:t>
            </a:r>
          </a:p>
        </p:txBody>
      </p:sp>
      <p:pic>
        <p:nvPicPr>
          <p:cNvPr id="20" name="Picture 19" descr="image.png"/>
          <p:cNvPicPr>
            <a:picLocks noChangeAspect="1"/>
          </p:cNvPicPr>
          <p:nvPr/>
        </p:nvPicPr>
        <p:blipFill>
          <a:blip r:embed="rId2"/>
          <a:stretch>
            <a:fillRect/>
          </a:stretch>
        </p:blipFill>
        <p:spPr>
          <a:xfrm>
            <a:off x="10012680" y="73152"/>
            <a:ext cx="1234440" cy="412284"/>
          </a:xfrm>
          <a:prstGeom prst="rect">
            <a:avLst/>
          </a:prstGeom>
        </p:spPr>
      </p:pic>
      <p:sp>
        <p:nvSpPr>
          <p:cNvPr id="21" name="Rounded Rectangle 20"/>
          <p:cNvSpPr/>
          <p:nvPr/>
        </p:nvSpPr>
        <p:spPr>
          <a:xfrm>
            <a:off x="750000" y="1500000"/>
            <a:ext cx="2250000" cy="27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Authentication Service</a:t>
            </a:r>
          </a:p>
          <a:p>
            <a:pPr algn="ctr">
              <a:defRPr sz="1400"/>
            </a:pPr>
            <a:r>
              <a:t>POST /api/auth/register</a:t>
            </a:r>
            <a:br/>
            <a:r>
              <a:t>POST /api/auth/login</a:t>
            </a:r>
            <a:br/>
            <a:r>
              <a:t>GET /api/auth/profile</a:t>
            </a:r>
          </a:p>
        </p:txBody>
      </p:sp>
      <p:sp>
        <p:nvSpPr>
          <p:cNvPr id="22" name="Rounded Rectangle 21"/>
          <p:cNvSpPr/>
          <p:nvPr/>
        </p:nvSpPr>
        <p:spPr>
          <a:xfrm>
            <a:off x="3250000" y="1500000"/>
            <a:ext cx="2250000" cy="27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Menu Service</a:t>
            </a:r>
          </a:p>
          <a:p>
            <a:pPr algn="ctr">
              <a:defRPr sz="1400"/>
            </a:pPr>
            <a:r>
              <a:t>GET /api/menu</a:t>
            </a:r>
            <a:br/>
            <a:r>
              <a:t>GET /api/menu/:id</a:t>
            </a:r>
            <a:br/>
            <a:r>
              <a:t>POST/PUT/DELETE /api/menu</a:t>
            </a:r>
          </a:p>
        </p:txBody>
      </p:sp>
      <p:sp>
        <p:nvSpPr>
          <p:cNvPr id="23" name="Rounded Rectangle 22"/>
          <p:cNvSpPr/>
          <p:nvPr/>
        </p:nvSpPr>
        <p:spPr>
          <a:xfrm>
            <a:off x="5750000" y="1500000"/>
            <a:ext cx="2250000" cy="27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Order &amp; Invoice Service</a:t>
            </a:r>
          </a:p>
          <a:p>
            <a:pPr algn="ctr">
              <a:defRPr sz="1400"/>
            </a:pPr>
            <a:r>
              <a:t>POST /api/orders</a:t>
            </a:r>
            <a:br/>
            <a:r>
              <a:t>GET /api/orders/my</a:t>
            </a:r>
            <a:br/>
            <a:r>
              <a:t>GET /api/orders/:id/invoice</a:t>
            </a:r>
            <a:br/>
            <a:r>
              <a:t>PUT status / cancel</a:t>
            </a:r>
          </a:p>
        </p:txBody>
      </p:sp>
      <p:sp>
        <p:nvSpPr>
          <p:cNvPr id="24" name="Rounded Rectangle 23"/>
          <p:cNvSpPr/>
          <p:nvPr/>
        </p:nvSpPr>
        <p:spPr>
          <a:xfrm>
            <a:off x="8250000" y="1500000"/>
            <a:ext cx="2250000" cy="27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rPr dirty="0"/>
              <a:t>Analytics Service</a:t>
            </a:r>
          </a:p>
          <a:p>
            <a:pPr algn="ctr">
              <a:defRPr sz="1400"/>
            </a:pPr>
            <a:r>
              <a:rPr dirty="0"/>
              <a:t>GET /</a:t>
            </a:r>
            <a:r>
              <a:rPr dirty="0" err="1"/>
              <a:t>api</a:t>
            </a:r>
            <a:r>
              <a:rPr dirty="0"/>
              <a:t>/analytics/popular</a:t>
            </a:r>
            <a:br>
              <a:rPr dirty="0"/>
            </a:br>
            <a:r>
              <a:rPr dirty="0"/>
              <a:t>GET /</a:t>
            </a:r>
            <a:r>
              <a:rPr dirty="0" err="1"/>
              <a:t>api</a:t>
            </a:r>
            <a:r>
              <a:rPr dirty="0"/>
              <a:t>/analytics/orders</a:t>
            </a:r>
            <a:br>
              <a:rPr dirty="0"/>
            </a:br>
            <a:r>
              <a:rPr dirty="0"/>
              <a:t>GET /</a:t>
            </a:r>
            <a:r>
              <a:rPr dirty="0" err="1"/>
              <a:t>api</a:t>
            </a:r>
            <a:r>
              <a:rPr dirty="0"/>
              <a:t>/analytics/revenue</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2" name="TextBox 1"/>
          <p:cNvSpPr txBox="1"/>
          <p:nvPr/>
        </p:nvSpPr>
        <p:spPr>
          <a:xfrm>
            <a:off x="1645920" y="411480"/>
            <a:ext cx="8046720" cy="640080"/>
          </a:xfrm>
          <a:prstGeom prst="rect">
            <a:avLst/>
          </a:prstGeom>
          <a:noFill/>
        </p:spPr>
        <p:txBody>
          <a:bodyPr wrap="square" lIns="36576" tIns="36576" rIns="36576" bIns="36576" anchor="ctr">
            <a:spAutoFit/>
          </a:bodyPr>
          <a:lstStyle/>
          <a:p>
            <a:pPr algn="ctr"/>
            <a:r>
              <a:rPr sz="2400" b="1"/>
              <a:t>Service Interaction &amp; Order Flow</a:t>
            </a:r>
          </a:p>
        </p:txBody>
      </p:sp>
      <p:sp>
        <p:nvSpPr>
          <p:cNvPr id="9" name="TextBox 8"/>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10" name="TextBox 9"/>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8</a:t>
            </a:r>
          </a:p>
        </p:txBody>
      </p:sp>
      <p:pic>
        <p:nvPicPr>
          <p:cNvPr id="11" name="Picture 10" descr="image.png"/>
          <p:cNvPicPr>
            <a:picLocks noChangeAspect="1"/>
          </p:cNvPicPr>
          <p:nvPr/>
        </p:nvPicPr>
        <p:blipFill>
          <a:blip r:embed="rId2"/>
          <a:stretch>
            <a:fillRect/>
          </a:stretch>
        </p:blipFill>
        <p:spPr>
          <a:xfrm>
            <a:off x="10012680" y="73152"/>
            <a:ext cx="1234440" cy="412284"/>
          </a:xfrm>
          <a:prstGeom prst="rect">
            <a:avLst/>
          </a:prstGeom>
        </p:spPr>
      </p:pic>
      <p:sp>
        <p:nvSpPr>
          <p:cNvPr id="12" name="Rounded Rectangle 11"/>
          <p:cNvSpPr/>
          <p:nvPr/>
        </p:nvSpPr>
        <p:spPr>
          <a:xfrm>
            <a:off x="600000" y="1650000"/>
            <a:ext cx="1650000" cy="23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1. Student UI</a:t>
            </a:r>
          </a:p>
          <a:p>
            <a:pPr algn="ctr">
              <a:defRPr sz="1400"/>
            </a:pPr>
            <a:r>
              <a:t>Login / browse menu</a:t>
            </a:r>
          </a:p>
        </p:txBody>
      </p:sp>
      <p:sp>
        <p:nvSpPr>
          <p:cNvPr id="13" name="Right Arrow 12"/>
          <p:cNvSpPr/>
          <p:nvPr/>
        </p:nvSpPr>
        <p:spPr>
          <a:xfrm>
            <a:off x="2250000" y="2500000"/>
            <a:ext cx="300000" cy="350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350000" y="1650000"/>
            <a:ext cx="1650000" cy="23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2. Auth + Menu</a:t>
            </a:r>
          </a:p>
          <a:p>
            <a:pPr algn="ctr">
              <a:defRPr sz="1400"/>
            </a:pPr>
            <a:r>
              <a:t>Validate identity / retrieve items</a:t>
            </a:r>
          </a:p>
        </p:txBody>
      </p:sp>
      <p:sp>
        <p:nvSpPr>
          <p:cNvPr id="15" name="Right Arrow 14"/>
          <p:cNvSpPr/>
          <p:nvPr/>
        </p:nvSpPr>
        <p:spPr>
          <a:xfrm>
            <a:off x="4000000" y="2500000"/>
            <a:ext cx="300000" cy="350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100000" y="1650000"/>
            <a:ext cx="1650000" cy="23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3. Order Service</a:t>
            </a:r>
          </a:p>
          <a:p>
            <a:pPr algn="ctr">
              <a:defRPr sz="1400"/>
            </a:pPr>
            <a:r>
              <a:t>Create order + invoice</a:t>
            </a:r>
          </a:p>
        </p:txBody>
      </p:sp>
      <p:sp>
        <p:nvSpPr>
          <p:cNvPr id="17" name="Right Arrow 16"/>
          <p:cNvSpPr/>
          <p:nvPr/>
        </p:nvSpPr>
        <p:spPr>
          <a:xfrm>
            <a:off x="5750000" y="2500000"/>
            <a:ext cx="300000" cy="350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850000" y="1650000"/>
            <a:ext cx="1650000" cy="23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4. Staff UI</a:t>
            </a:r>
          </a:p>
          <a:p>
            <a:pPr algn="ctr">
              <a:defRPr sz="1400"/>
            </a:pPr>
            <a:r>
              <a:t>Read incoming order</a:t>
            </a:r>
          </a:p>
        </p:txBody>
      </p:sp>
      <p:sp>
        <p:nvSpPr>
          <p:cNvPr id="19" name="Right Arrow 18"/>
          <p:cNvSpPr/>
          <p:nvPr/>
        </p:nvSpPr>
        <p:spPr>
          <a:xfrm>
            <a:off x="7500000" y="2500000"/>
            <a:ext cx="300000" cy="350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600000" y="1650000"/>
            <a:ext cx="1650000" cy="23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5. Order Service</a:t>
            </a:r>
          </a:p>
          <a:p>
            <a:pPr algn="ctr">
              <a:defRPr sz="1400"/>
            </a:pPr>
            <a:r>
              <a:t>Update status</a:t>
            </a:r>
          </a:p>
        </p:txBody>
      </p:sp>
      <p:sp>
        <p:nvSpPr>
          <p:cNvPr id="21" name="Right Arrow 20"/>
          <p:cNvSpPr/>
          <p:nvPr/>
        </p:nvSpPr>
        <p:spPr>
          <a:xfrm>
            <a:off x="9250000" y="2500000"/>
            <a:ext cx="300000" cy="350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350000" y="1650000"/>
            <a:ext cx="1650000" cy="23000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6. Student UI</a:t>
            </a:r>
          </a:p>
          <a:p>
            <a:pPr algn="ctr">
              <a:defRPr sz="1400"/>
            </a:pPr>
            <a:r>
              <a:t>Track pickup status</a:t>
            </a:r>
          </a:p>
        </p:txBody>
      </p:sp>
      <p:sp>
        <p:nvSpPr>
          <p:cNvPr id="23" name="TextBox 22"/>
          <p:cNvSpPr txBox="1"/>
          <p:nvPr/>
        </p:nvSpPr>
        <p:spPr>
          <a:xfrm>
            <a:off x="1000000" y="4400000"/>
            <a:ext cx="9488168" cy="338554"/>
          </a:xfrm>
          <a:prstGeom prst="rect">
            <a:avLst/>
          </a:prstGeom>
          <a:noFill/>
        </p:spPr>
        <p:txBody>
          <a:bodyPr wrap="square">
            <a:spAutoFit/>
          </a:bodyPr>
          <a:lstStyle/>
          <a:p>
            <a:r>
              <a:rPr sz="1600" b="0" dirty="0"/>
              <a:t>: Pending → Preparing → Ready for Pickup → Picked Up (Delivered), with Cancelled as an alternate path.</a:t>
            </a:r>
          </a:p>
        </p:txBody>
      </p:sp>
    </p:spTree>
    <p:extLst>
      <p:ext uri="{BB962C8B-B14F-4D97-AF65-F5344CB8AC3E}">
        <p14:creationId xmlns:p14="http://schemas.microsoft.com/office/powerpoint/2010/main" val="41188552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5920" y="411480"/>
            <a:ext cx="8046720" cy="640080"/>
          </a:xfrm>
          <a:prstGeom prst="rect">
            <a:avLst/>
          </a:prstGeom>
          <a:noFill/>
        </p:spPr>
        <p:txBody>
          <a:bodyPr wrap="square" lIns="36576" tIns="36576" rIns="36576" bIns="36576" anchor="ctr">
            <a:spAutoFit/>
          </a:bodyPr>
          <a:lstStyle/>
          <a:p>
            <a:pPr algn="ctr"/>
            <a:r>
              <a:rPr sz="2400" b="1"/>
              <a:t>Literature Survey</a:t>
            </a:r>
          </a:p>
        </p:txBody>
      </p:sp>
      <p:sp>
        <p:nvSpPr>
          <p:cNvPr id="9" name="TextBox 8"/>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10" name="TextBox 9"/>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10</a:t>
            </a:r>
          </a:p>
        </p:txBody>
      </p:sp>
      <p:pic>
        <p:nvPicPr>
          <p:cNvPr id="11" name="Picture 10" descr="image.png"/>
          <p:cNvPicPr>
            <a:picLocks noChangeAspect="1"/>
          </p:cNvPicPr>
          <p:nvPr/>
        </p:nvPicPr>
        <p:blipFill>
          <a:blip r:embed="rId2"/>
          <a:stretch>
            <a:fillRect/>
          </a:stretch>
        </p:blipFill>
        <p:spPr>
          <a:xfrm>
            <a:off x="10012680" y="73152"/>
            <a:ext cx="1234440" cy="412284"/>
          </a:xfrm>
          <a:prstGeom prst="rect">
            <a:avLst/>
          </a:prstGeom>
        </p:spPr>
      </p:pic>
      <p:sp>
        <p:nvSpPr>
          <p:cNvPr id="12" name="Rounded Rectangle 11"/>
          <p:cNvSpPr/>
          <p:nvPr/>
        </p:nvSpPr>
        <p:spPr>
          <a:xfrm>
            <a:off x="900000" y="1450000"/>
            <a:ext cx="10200000" cy="4685624"/>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b="1" dirty="0">
                <a:solidFill>
                  <a:schemeClr val="tx1"/>
                </a:solidFill>
              </a:rPr>
              <a:t>1. Digital Food Ordering</a:t>
            </a:r>
            <a:br>
              <a:rPr lang="en-IN" dirty="0">
                <a:solidFill>
                  <a:schemeClr val="tx1"/>
                </a:solidFill>
              </a:rPr>
            </a:br>
            <a:r>
              <a:rPr lang="en-IN" dirty="0">
                <a:solidFill>
                  <a:schemeClr val="tx1"/>
                </a:solidFill>
              </a:rPr>
              <a:t>Online food-ordering systems allow students to view menus and place orders digitally, reducing manual order-taking and making the ordering process faster and more convenient.</a:t>
            </a:r>
          </a:p>
          <a:p>
            <a:r>
              <a:rPr lang="en-IN" b="1" dirty="0">
                <a:solidFill>
                  <a:schemeClr val="tx1"/>
                </a:solidFill>
              </a:rPr>
              <a:t>2. Queue &amp; Waiting-Time Reduction</a:t>
            </a:r>
            <a:br>
              <a:rPr lang="en-IN" dirty="0">
                <a:solidFill>
                  <a:schemeClr val="tx1"/>
                </a:solidFill>
              </a:rPr>
            </a:br>
            <a:r>
              <a:rPr lang="en-IN" dirty="0">
                <a:solidFill>
                  <a:schemeClr val="tx1"/>
                </a:solidFill>
              </a:rPr>
              <a:t>Pre-ordering through a campus canteen system can help reduce long queues during peak hours and allows students to collect their food when the order is ready.</a:t>
            </a:r>
          </a:p>
          <a:p>
            <a:r>
              <a:rPr lang="en-IN" b="1" dirty="0">
                <a:solidFill>
                  <a:schemeClr val="tx1"/>
                </a:solidFill>
              </a:rPr>
              <a:t>3. Order &amp; Menu Management</a:t>
            </a:r>
            <a:br>
              <a:rPr lang="en-IN" dirty="0">
                <a:solidFill>
                  <a:schemeClr val="tx1"/>
                </a:solidFill>
              </a:rPr>
            </a:br>
            <a:r>
              <a:rPr lang="en-IN" dirty="0">
                <a:solidFill>
                  <a:schemeClr val="tx1"/>
                </a:solidFill>
              </a:rPr>
              <a:t>A centralized system helps canteen staff manage food items, prices, availability, and incoming orders efficiently while keeping menu information updated for students.</a:t>
            </a:r>
          </a:p>
          <a:p>
            <a:r>
              <a:rPr lang="en-IN" b="1" dirty="0">
                <a:solidFill>
                  <a:schemeClr val="tx1"/>
                </a:solidFill>
              </a:rPr>
              <a:t>4. Order Tracking &amp; Digital Payment</a:t>
            </a:r>
            <a:br>
              <a:rPr lang="en-IN" dirty="0">
                <a:solidFill>
                  <a:schemeClr val="tx1"/>
                </a:solidFill>
              </a:rPr>
            </a:br>
            <a:r>
              <a:rPr lang="en-IN" dirty="0">
                <a:solidFill>
                  <a:schemeClr val="tx1"/>
                </a:solidFill>
              </a:rPr>
              <a:t>Order-status tracking and digital payment provide students with a smoother experience by showing the progress of their order and simplifying the payment process.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5920" y="411480"/>
            <a:ext cx="8046720" cy="640080"/>
          </a:xfrm>
          <a:prstGeom prst="rect">
            <a:avLst/>
          </a:prstGeom>
          <a:noFill/>
        </p:spPr>
        <p:txBody>
          <a:bodyPr wrap="square" lIns="36576" tIns="36576" rIns="36576" bIns="36576" anchor="ctr">
            <a:spAutoFit/>
          </a:bodyPr>
          <a:lstStyle/>
          <a:p>
            <a:pPr algn="ctr"/>
            <a:r>
              <a:rPr sz="2400" b="1"/>
              <a:t>Problem Gap Identification</a:t>
            </a:r>
          </a:p>
        </p:txBody>
      </p:sp>
      <p:sp>
        <p:nvSpPr>
          <p:cNvPr id="13" name="TextBox 12"/>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11</a:t>
            </a:r>
          </a:p>
        </p:txBody>
      </p:sp>
      <p:pic>
        <p:nvPicPr>
          <p:cNvPr id="14" name="Picture 13" descr="image.png"/>
          <p:cNvPicPr>
            <a:picLocks noChangeAspect="1"/>
          </p:cNvPicPr>
          <p:nvPr/>
        </p:nvPicPr>
        <p:blipFill>
          <a:blip r:embed="rId2"/>
          <a:stretch>
            <a:fillRect/>
          </a:stretch>
        </p:blipFill>
        <p:spPr>
          <a:xfrm>
            <a:off x="10012680" y="73152"/>
            <a:ext cx="1234440" cy="412284"/>
          </a:xfrm>
          <a:prstGeom prst="rect">
            <a:avLst/>
          </a:prstGeom>
        </p:spPr>
      </p:pic>
      <p:sp>
        <p:nvSpPr>
          <p:cNvPr id="15" name="Rounded Rectangle 14"/>
          <p:cNvSpPr/>
          <p:nvPr/>
        </p:nvSpPr>
        <p:spPr>
          <a:xfrm>
            <a:off x="393192" y="1450000"/>
            <a:ext cx="5306808" cy="4374728"/>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600" b="1">
                <a:solidFill>
                  <a:srgbClr val="266691"/>
                </a:solidFill>
              </a:defRPr>
            </a:pPr>
            <a:r>
              <a:rPr dirty="0"/>
              <a:t>Gap in a Basic Canteen Workflow</a:t>
            </a:r>
          </a:p>
          <a:p>
            <a:pPr>
              <a:defRPr sz="1500">
                <a:solidFill>
                  <a:srgbClr val="191919"/>
                </a:solidFill>
              </a:defRPr>
            </a:pPr>
            <a:r>
              <a:rPr dirty="0"/>
              <a:t>• Menu, ordering and staff processing may be disconnected</a:t>
            </a:r>
            <a:br>
              <a:rPr dirty="0"/>
            </a:br>
            <a:r>
              <a:rPr dirty="0"/>
              <a:t>• Students need visibility after order placement</a:t>
            </a:r>
            <a:br>
              <a:rPr dirty="0"/>
            </a:br>
            <a:r>
              <a:rPr dirty="0"/>
              <a:t>• Staff need structured incoming-order operations</a:t>
            </a:r>
            <a:br>
              <a:rPr dirty="0"/>
            </a:br>
            <a:r>
              <a:rPr dirty="0"/>
              <a:t>• Business functions benefit from clear interfaces</a:t>
            </a:r>
          </a:p>
        </p:txBody>
      </p:sp>
      <p:sp>
        <p:nvSpPr>
          <p:cNvPr id="16" name="Rounded Rectangle 15"/>
          <p:cNvSpPr/>
          <p:nvPr/>
        </p:nvSpPr>
        <p:spPr>
          <a:xfrm>
            <a:off x="6100000" y="1450000"/>
            <a:ext cx="5613464" cy="4374728"/>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600" b="1">
                <a:solidFill>
                  <a:srgbClr val="266691"/>
                </a:solidFill>
              </a:defRPr>
            </a:pPr>
            <a:r>
              <a:rPr dirty="0"/>
              <a:t>Oriented Project Response</a:t>
            </a:r>
          </a:p>
          <a:p>
            <a:pPr>
              <a:defRPr sz="1500">
                <a:solidFill>
                  <a:srgbClr val="191919"/>
                </a:solidFill>
              </a:defRPr>
            </a:pPr>
            <a:r>
              <a:rPr dirty="0"/>
              <a:t>• REST interfaces expose business capabilities</a:t>
            </a:r>
            <a:br>
              <a:rPr dirty="0"/>
            </a:br>
            <a:r>
              <a:rPr dirty="0"/>
              <a:t>• Auth, Menu, Orders/Invoices and Analytics are separable service areas</a:t>
            </a:r>
            <a:br>
              <a:rPr dirty="0"/>
            </a:br>
            <a:r>
              <a:rPr dirty="0"/>
              <a:t>• Role-based routes protect service operations</a:t>
            </a:r>
            <a:br>
              <a:rPr dirty="0"/>
            </a:br>
            <a:r>
              <a:rPr dirty="0"/>
              <a:t>• Order status history provides traceability</a:t>
            </a:r>
            <a:br>
              <a:rPr dirty="0"/>
            </a:br>
            <a:r>
              <a:rPr dirty="0"/>
              <a:t>• Shared persistence supports the service layer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5920" y="411480"/>
            <a:ext cx="8046720" cy="640080"/>
          </a:xfrm>
          <a:prstGeom prst="rect">
            <a:avLst/>
          </a:prstGeom>
          <a:noFill/>
        </p:spPr>
        <p:txBody>
          <a:bodyPr wrap="square" lIns="36576" tIns="36576" rIns="36576" bIns="36576" anchor="ctr">
            <a:spAutoFit/>
          </a:bodyPr>
          <a:lstStyle/>
          <a:p>
            <a:pPr algn="ctr"/>
            <a:r>
              <a:rPr sz="2400" b="1"/>
              <a:t>Feasibility and Project Plan</a:t>
            </a:r>
          </a:p>
        </p:txBody>
      </p:sp>
      <p:sp>
        <p:nvSpPr>
          <p:cNvPr id="9" name="TextBox 8"/>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10" name="TextBox 9"/>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14</a:t>
            </a:r>
          </a:p>
        </p:txBody>
      </p:sp>
      <p:pic>
        <p:nvPicPr>
          <p:cNvPr id="11" name="Picture 10" descr="image.png"/>
          <p:cNvPicPr>
            <a:picLocks noChangeAspect="1"/>
          </p:cNvPicPr>
          <p:nvPr/>
        </p:nvPicPr>
        <p:blipFill>
          <a:blip r:embed="rId2"/>
          <a:stretch>
            <a:fillRect/>
          </a:stretch>
        </p:blipFill>
        <p:spPr>
          <a:xfrm>
            <a:off x="10012680" y="73152"/>
            <a:ext cx="1234440" cy="412284"/>
          </a:xfrm>
          <a:prstGeom prst="rect">
            <a:avLst/>
          </a:prstGeom>
        </p:spPr>
      </p:pic>
      <p:sp>
        <p:nvSpPr>
          <p:cNvPr id="12" name="Rounded Rectangle 11"/>
          <p:cNvSpPr/>
          <p:nvPr/>
        </p:nvSpPr>
        <p:spPr>
          <a:xfrm>
            <a:off x="650000" y="1300000"/>
            <a:ext cx="10400000" cy="1300000"/>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600" b="1">
                <a:solidFill>
                  <a:srgbClr val="266691"/>
                </a:solidFill>
              </a:defRPr>
            </a:pPr>
            <a:r>
              <a:rPr dirty="0"/>
              <a:t>Phase Plan</a:t>
            </a:r>
          </a:p>
          <a:p>
            <a:pPr>
              <a:defRPr sz="1500">
                <a:solidFill>
                  <a:srgbClr val="191919"/>
                </a:solidFill>
              </a:defRPr>
            </a:pPr>
            <a:r>
              <a:rPr dirty="0"/>
              <a:t>P1 Requirements → P2 REST Services + Database → P3 UI + Role Integration → P4 Integration + Testing → P5 Review-2 + Final Evaluation</a:t>
            </a:r>
          </a:p>
        </p:txBody>
      </p:sp>
      <p:sp>
        <p:nvSpPr>
          <p:cNvPr id="13" name="Rounded Rectangle 12"/>
          <p:cNvSpPr/>
          <p:nvPr/>
        </p:nvSpPr>
        <p:spPr>
          <a:xfrm>
            <a:off x="750000" y="2950000"/>
            <a:ext cx="1900000" cy="1800000"/>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266691"/>
                </a:solidFill>
              </a:defRPr>
            </a:pPr>
            <a:r>
              <a:t>P1</a:t>
            </a:r>
          </a:p>
          <a:p>
            <a:pPr>
              <a:defRPr sz="1300">
                <a:solidFill>
                  <a:srgbClr val="191919"/>
                </a:solidFill>
              </a:defRPr>
            </a:pPr>
            <a:r>
              <a:t>Requirements</a:t>
            </a:r>
            <a:br/>
            <a:r>
              <a:t>&amp; SOA design</a:t>
            </a:r>
          </a:p>
        </p:txBody>
      </p:sp>
      <p:sp>
        <p:nvSpPr>
          <p:cNvPr id="14" name="Rounded Rectangle 13"/>
          <p:cNvSpPr/>
          <p:nvPr/>
        </p:nvSpPr>
        <p:spPr>
          <a:xfrm>
            <a:off x="2800000" y="2950000"/>
            <a:ext cx="1900000" cy="1800000"/>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266691"/>
                </a:solidFill>
              </a:defRPr>
            </a:pPr>
            <a:r>
              <a:t>P2</a:t>
            </a:r>
          </a:p>
          <a:p>
            <a:pPr>
              <a:defRPr sz="1300">
                <a:solidFill>
                  <a:srgbClr val="191919"/>
                </a:solidFill>
              </a:defRPr>
            </a:pPr>
            <a:r>
              <a:t>REST services</a:t>
            </a:r>
            <a:br/>
            <a:r>
              <a:t>&amp; database</a:t>
            </a:r>
          </a:p>
        </p:txBody>
      </p:sp>
      <p:sp>
        <p:nvSpPr>
          <p:cNvPr id="15" name="Rounded Rectangle 14"/>
          <p:cNvSpPr/>
          <p:nvPr/>
        </p:nvSpPr>
        <p:spPr>
          <a:xfrm>
            <a:off x="4850000" y="2950000"/>
            <a:ext cx="1900000" cy="1800000"/>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266691"/>
                </a:solidFill>
              </a:defRPr>
            </a:pPr>
            <a:r>
              <a:t>P3</a:t>
            </a:r>
          </a:p>
          <a:p>
            <a:pPr>
              <a:defRPr sz="1300">
                <a:solidFill>
                  <a:srgbClr val="191919"/>
                </a:solidFill>
              </a:defRPr>
            </a:pPr>
            <a:r>
              <a:t>UI + role</a:t>
            </a:r>
            <a:br/>
            <a:r>
              <a:t>integration</a:t>
            </a:r>
          </a:p>
        </p:txBody>
      </p:sp>
      <p:sp>
        <p:nvSpPr>
          <p:cNvPr id="16" name="Rounded Rectangle 15"/>
          <p:cNvSpPr/>
          <p:nvPr/>
        </p:nvSpPr>
        <p:spPr>
          <a:xfrm>
            <a:off x="6900000" y="2950000"/>
            <a:ext cx="1900000" cy="1800000"/>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266691"/>
                </a:solidFill>
              </a:defRPr>
            </a:pPr>
            <a:r>
              <a:t>P4</a:t>
            </a:r>
          </a:p>
          <a:p>
            <a:pPr>
              <a:defRPr sz="1300">
                <a:solidFill>
                  <a:srgbClr val="191919"/>
                </a:solidFill>
              </a:defRPr>
            </a:pPr>
            <a:r>
              <a:t>Integration</a:t>
            </a:r>
            <a:br/>
            <a:r>
              <a:t>&amp; testing</a:t>
            </a:r>
          </a:p>
        </p:txBody>
      </p:sp>
      <p:sp>
        <p:nvSpPr>
          <p:cNvPr id="17" name="Rounded Rectangle 16"/>
          <p:cNvSpPr/>
          <p:nvPr/>
        </p:nvSpPr>
        <p:spPr>
          <a:xfrm>
            <a:off x="8950000" y="2950000"/>
            <a:ext cx="1900000" cy="1800000"/>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800" b="1">
                <a:solidFill>
                  <a:srgbClr val="266691"/>
                </a:solidFill>
              </a:defRPr>
            </a:pPr>
            <a:r>
              <a:t>P5</a:t>
            </a:r>
          </a:p>
          <a:p>
            <a:pPr>
              <a:defRPr sz="1300">
                <a:solidFill>
                  <a:srgbClr val="191919"/>
                </a:solidFill>
              </a:defRPr>
            </a:pPr>
            <a:r>
              <a:t>Review-2 +</a:t>
            </a:r>
            <a:br/>
            <a:r>
              <a:t>final</a:t>
            </a:r>
          </a:p>
        </p:txBody>
      </p:sp>
      <p:sp>
        <p:nvSpPr>
          <p:cNvPr id="18" name="TextBox 17"/>
          <p:cNvSpPr txBox="1"/>
          <p:nvPr/>
        </p:nvSpPr>
        <p:spPr>
          <a:xfrm>
            <a:off x="219456" y="5050000"/>
            <a:ext cx="12819636" cy="1138773"/>
          </a:xfrm>
          <a:prstGeom prst="rect">
            <a:avLst/>
          </a:prstGeom>
          <a:noFill/>
        </p:spPr>
        <p:txBody>
          <a:bodyPr wrap="square">
            <a:spAutoFit/>
          </a:bodyPr>
          <a:lstStyle/>
          <a:p>
            <a:pPr lvl="0"/>
            <a:r>
              <a:rPr lang="en-IN" b="1" dirty="0"/>
              <a:t>Technical Feasibility:</a:t>
            </a:r>
            <a:r>
              <a:rPr lang="en-IN" dirty="0"/>
              <a:t> Uses reliable and readily available technologies to develop and deploy the system. </a:t>
            </a:r>
          </a:p>
          <a:p>
            <a:pPr lvl="0"/>
            <a:r>
              <a:rPr lang="en-IN" b="1" dirty="0"/>
              <a:t>Operational Feasibility:</a:t>
            </a:r>
            <a:r>
              <a:rPr lang="en-IN" dirty="0"/>
              <a:t> Simplifies food ordering and management for students and canteen staff. </a:t>
            </a:r>
          </a:p>
          <a:p>
            <a:pPr lvl="0"/>
            <a:r>
              <a:rPr lang="en-IN" b="1" dirty="0"/>
              <a:t>Economic Feasibility:</a:t>
            </a:r>
            <a:r>
              <a:rPr lang="en-IN" dirty="0"/>
              <a:t> Can be developed and maintained at low cost using existing infrastructure and open-source tools.</a:t>
            </a:r>
          </a:p>
          <a:p>
            <a:pPr>
              <a:defRPr sz="1400" b="0">
                <a:solidFill>
                  <a:srgbClr val="191919"/>
                </a:solidFill>
              </a:defRPr>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45920" y="509921"/>
            <a:ext cx="8046720" cy="443198"/>
          </a:xfrm>
          <a:prstGeom prst="rect">
            <a:avLst/>
          </a:prstGeom>
          <a:noFill/>
        </p:spPr>
        <p:txBody>
          <a:bodyPr wrap="square" lIns="36576" tIns="36576" rIns="36576" bIns="36576" anchor="ctr">
            <a:spAutoFit/>
          </a:bodyPr>
          <a:lstStyle/>
          <a:p>
            <a:pPr algn="ctr"/>
            <a:r>
              <a:rPr sz="2400" b="1" dirty="0"/>
              <a:t>Conclusion, Future Work </a:t>
            </a:r>
          </a:p>
        </p:txBody>
      </p:sp>
      <p:sp>
        <p:nvSpPr>
          <p:cNvPr id="5" name="TextBox 4"/>
          <p:cNvSpPr txBox="1"/>
          <p:nvPr/>
        </p:nvSpPr>
        <p:spPr>
          <a:xfrm>
            <a:off x="685800" y="6355080"/>
            <a:ext cx="2743200" cy="274320"/>
          </a:xfrm>
          <a:prstGeom prst="rect">
            <a:avLst/>
          </a:prstGeom>
          <a:noFill/>
        </p:spPr>
        <p:txBody>
          <a:bodyPr wrap="square" lIns="36576" tIns="36576" rIns="36576" bIns="36576" anchor="t">
            <a:spAutoFit/>
          </a:bodyPr>
          <a:lstStyle/>
          <a:p>
            <a:pPr algn="l"/>
            <a:r>
              <a:rPr sz="1100" b="1">
                <a:solidFill>
                  <a:srgbClr val="5A5A5A"/>
                </a:solidFill>
              </a:rPr>
              <a:t>SOA Project Review-1</a:t>
            </a:r>
          </a:p>
        </p:txBody>
      </p:sp>
      <p:sp>
        <p:nvSpPr>
          <p:cNvPr id="6" name="TextBox 5"/>
          <p:cNvSpPr txBox="1"/>
          <p:nvPr/>
        </p:nvSpPr>
        <p:spPr>
          <a:xfrm>
            <a:off x="9966960" y="6355080"/>
            <a:ext cx="914400" cy="274320"/>
          </a:xfrm>
          <a:prstGeom prst="rect">
            <a:avLst/>
          </a:prstGeom>
          <a:noFill/>
        </p:spPr>
        <p:txBody>
          <a:bodyPr wrap="square" lIns="36576" tIns="36576" rIns="36576" bIns="36576" anchor="t">
            <a:spAutoFit/>
          </a:bodyPr>
          <a:lstStyle/>
          <a:p>
            <a:pPr algn="r"/>
            <a:r>
              <a:rPr sz="1100" b="0">
                <a:solidFill>
                  <a:srgbClr val="5A5A5A"/>
                </a:solidFill>
              </a:rPr>
              <a:t>16</a:t>
            </a:r>
          </a:p>
        </p:txBody>
      </p:sp>
      <p:pic>
        <p:nvPicPr>
          <p:cNvPr id="7" name="Picture 6" descr="image.png"/>
          <p:cNvPicPr>
            <a:picLocks noChangeAspect="1"/>
          </p:cNvPicPr>
          <p:nvPr/>
        </p:nvPicPr>
        <p:blipFill>
          <a:blip r:embed="rId2"/>
          <a:stretch>
            <a:fillRect/>
          </a:stretch>
        </p:blipFill>
        <p:spPr>
          <a:xfrm>
            <a:off x="10012680" y="73152"/>
            <a:ext cx="1234440" cy="412284"/>
          </a:xfrm>
          <a:prstGeom prst="rect">
            <a:avLst/>
          </a:prstGeom>
        </p:spPr>
      </p:pic>
      <p:sp>
        <p:nvSpPr>
          <p:cNvPr id="8" name="Rounded Rectangle 7"/>
          <p:cNvSpPr/>
          <p:nvPr/>
        </p:nvSpPr>
        <p:spPr>
          <a:xfrm>
            <a:off x="2148840" y="1482296"/>
            <a:ext cx="7863840" cy="4241848"/>
          </a:xfrm>
          <a:prstGeom prst="roundRect">
            <a:avLst/>
          </a:prstGeom>
          <a:solidFill>
            <a:srgbClr val="F5F7FA"/>
          </a:solidFill>
          <a:ln w="19050">
            <a:solidFill>
              <a:srgbClr val="E6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800"/>
              </a:spcAft>
              <a:defRPr sz="1600" b="1">
                <a:solidFill>
                  <a:srgbClr val="266691"/>
                </a:solidFill>
              </a:defRPr>
            </a:pPr>
            <a:r>
              <a:rPr sz="2000" dirty="0"/>
              <a:t>Conclusion &amp; Future Work</a:t>
            </a:r>
          </a:p>
          <a:p>
            <a:pPr>
              <a:defRPr sz="1400">
                <a:solidFill>
                  <a:srgbClr val="191919"/>
                </a:solidFill>
              </a:defRPr>
            </a:pPr>
            <a:r>
              <a:rPr sz="2000" dirty="0"/>
              <a:t>The Campus Canteen system can be presented as an SOA-oriented application where authentication, menu, order/invoice and analytics capabilities are exposed through REST interfaces.</a:t>
            </a:r>
            <a:br>
              <a:rPr sz="2000" dirty="0"/>
            </a:br>
            <a:br>
              <a:rPr sz="2000" dirty="0"/>
            </a:br>
            <a:r>
              <a:rPr sz="2000" dirty="0"/>
              <a:t>Future work:</a:t>
            </a:r>
            <a:br>
              <a:rPr sz="2000" dirty="0"/>
            </a:br>
            <a:r>
              <a:rPr sz="2000" dirty="0"/>
              <a:t>• Add approved academic SOA literature</a:t>
            </a:r>
            <a:br>
              <a:rPr sz="2000" dirty="0"/>
            </a:br>
            <a:r>
              <a:rPr sz="2000" dirty="0"/>
              <a:t>• Expand automated testing</a:t>
            </a:r>
            <a:br>
              <a:rPr sz="2000" dirty="0"/>
            </a:br>
            <a:r>
              <a:rPr sz="2000" dirty="0"/>
              <a:t>• Add deployment and observability evidence</a:t>
            </a:r>
            <a:br>
              <a:rPr sz="2000" dirty="0"/>
            </a:br>
            <a:r>
              <a:rPr sz="2000" dirty="0"/>
              <a:t>• Validate service interactions and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1144</Words>
  <Application>Microsoft Office PowerPoint</Application>
  <PresentationFormat>Widescreen</PresentationFormat>
  <Paragraphs>127</Paragraphs>
  <Slides>12</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sk abdul sabbir</cp:lastModifiedBy>
  <cp:revision>40</cp:revision>
  <dcterms:created xsi:type="dcterms:W3CDTF">2026-08-08T06:33:56Z</dcterms:created>
  <dcterms:modified xsi:type="dcterms:W3CDTF">2026-09-22T10:16:52Z</dcterms:modified>
</cp:coreProperties>
</file>